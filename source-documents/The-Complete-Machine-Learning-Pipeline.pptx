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Overpass Bold" panose="020B0604020202020204" charset="0"/>
      <p:regular r:id="rId13"/>
    </p:embeddedFont>
    <p:embeddedFont>
      <p:font typeface="Overpass Light" panose="020B0604020202020204" charset="0"/>
      <p:regular r:id="rId14"/>
    </p:embeddedFont>
    <p:embeddedFont>
      <p:font typeface="Syne" panose="020B0604020202020204" charset="0"/>
      <p:regular r:id="rId15"/>
    </p:embeddedFont>
    <p:embeddedFont>
      <p:font typeface="Syne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1893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064" y="163216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Complete Machine Learning Pipeline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11064" y="2730739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How Real AI Systems Are Built — Using the AQI Prediction Project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11064" y="3105563"/>
            <a:ext cx="1700956" cy="226814"/>
          </a:xfrm>
          <a:prstGeom prst="roundRect">
            <a:avLst>
              <a:gd name="adj" fmla="val 22119"/>
            </a:avLst>
          </a:prstGeom>
          <a:solidFill>
            <a:srgbClr val="DDEEE6"/>
          </a:solidFill>
          <a:ln/>
        </p:spPr>
      </p:sp>
      <p:sp>
        <p:nvSpPr>
          <p:cNvPr id="6" name="Text 3"/>
          <p:cNvSpPr/>
          <p:nvPr/>
        </p:nvSpPr>
        <p:spPr>
          <a:xfrm>
            <a:off x="496119" y="3159513"/>
            <a:ext cx="191698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SHINE INTERNSHIP COHORT 9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96119" y="3426659"/>
            <a:ext cx="161590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24435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DATA SCIENCE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482A7D5-9628-E1A7-7083-2FFE1180A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83" y="323850"/>
            <a:ext cx="2218251" cy="6804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1241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ML Is More Than Training Models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991270"/>
            <a:ext cx="86089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Most real-world ML effort goes into data and deployment — </a:t>
            </a:r>
            <a:r>
              <a:rPr lang="en-US" sz="95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not</a:t>
            </a: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model training.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61877"/>
            <a:ext cx="2717229" cy="4872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7934" y="2153766"/>
            <a:ext cx="247359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Business Problem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8" y="1561877"/>
            <a:ext cx="2717229" cy="4872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35164" y="2153766"/>
            <a:ext cx="247359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 Collection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1561877"/>
            <a:ext cx="2717229" cy="4872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52393" y="2153766"/>
            <a:ext cx="247359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EDA</a:t>
            </a:r>
            <a:endParaRPr lang="en-US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2465933"/>
            <a:ext cx="2717229" cy="4872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7934" y="3057823"/>
            <a:ext cx="247359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Feature Engineering</a:t>
            </a:r>
            <a:endParaRPr lang="en-US" sz="11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348" y="2465933"/>
            <a:ext cx="2717229" cy="48726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335164" y="3057823"/>
            <a:ext cx="247359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Feature Store</a:t>
            </a:r>
            <a:endParaRPr lang="en-US" sz="11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0578" y="2465933"/>
            <a:ext cx="2717229" cy="48726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052393" y="3057823"/>
            <a:ext cx="247359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Model Training</a:t>
            </a:r>
            <a:endParaRPr lang="en-US" sz="11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119" y="3369990"/>
            <a:ext cx="2717229" cy="487263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17934" y="3961879"/>
            <a:ext cx="247359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Evaluation</a:t>
            </a:r>
            <a:endParaRPr lang="en-US" sz="115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13348" y="3369990"/>
            <a:ext cx="2717229" cy="487263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3335164" y="3961879"/>
            <a:ext cx="247359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Deployment</a:t>
            </a:r>
            <a:endParaRPr lang="en-US" sz="115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0578" y="3369990"/>
            <a:ext cx="2717229" cy="487263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6052393" y="3961879"/>
            <a:ext cx="247359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Monitoring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5780"/>
            <a:ext cx="8151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Business Understanding &amp; Data Collection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46814"/>
            <a:ext cx="5200278" cy="29467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2146" y="1696945"/>
            <a:ext cx="267042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Start with the Question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82146" y="1970416"/>
            <a:ext cx="2670423" cy="566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Define the business problem clearly</a:t>
            </a:r>
            <a:endParaRPr lang="en-US" sz="900" dirty="0"/>
          </a:p>
          <a:p>
            <a:pPr marL="182880" indent="-18288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Identify inputs (features) and outputs (target)</a:t>
            </a:r>
            <a:endParaRPr lang="en-US" sz="900" dirty="0"/>
          </a:p>
          <a:p>
            <a:pPr marL="182880" indent="-18288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Collect historical data from APIs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982146" y="2630395"/>
            <a:ext cx="267042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AQI Project Example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82146" y="2903866"/>
            <a:ext cx="2670423" cy="900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1000"/>
              </a:lnSpc>
              <a:buSzPct val="100000"/>
              <a:buChar char="•"/>
            </a:pPr>
            <a:r>
              <a:rPr lang="en-US" sz="9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Goal:</a:t>
            </a: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Predict AQI for the next 3 days</a:t>
            </a:r>
            <a:endParaRPr lang="en-US" sz="900" dirty="0"/>
          </a:p>
          <a:p>
            <a:pPr marL="182880" indent="-182880" algn="l">
              <a:lnSpc>
                <a:spcPct val="121000"/>
              </a:lnSpc>
              <a:buSzPct val="100000"/>
              <a:buChar char="•"/>
            </a:pPr>
            <a:r>
              <a:rPr lang="en-US" sz="9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Inputs:</a:t>
            </a: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Weather + pollution data from external APIs</a:t>
            </a:r>
            <a:endParaRPr lang="en-US" sz="900" dirty="0"/>
          </a:p>
          <a:p>
            <a:pPr marL="182880" indent="-182880" algn="l">
              <a:lnSpc>
                <a:spcPct val="121000"/>
              </a:lnSpc>
              <a:buSzPct val="100000"/>
              <a:buChar char="•"/>
            </a:pPr>
            <a:r>
              <a:rPr lang="en-US" sz="9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Key rule:</a:t>
            </a: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Historical data must be collected before any training begins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Exploratory Data Analysis &amp; Feature Engineering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40701" y="1449028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From Raw Data → Engineered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3686" y="1715133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Clean, explore, and transform raw data into signals the model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can learn from.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33686" y="2195805"/>
            <a:ext cx="3989412" cy="474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Handle missing values &amp; outliers</a:t>
            </a:r>
            <a:endParaRPr lang="en-US" sz="9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Explore trends, seasonality, and correlations</a:t>
            </a:r>
            <a:endParaRPr lang="en-US" sz="9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Create time-based features: </a:t>
            </a:r>
            <a:r>
              <a:rPr lang="en-US" sz="9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Hour, Day, Month</a:t>
            </a:r>
            <a:endParaRPr lang="en-US" sz="9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Build rolling averages and lag features</a:t>
            </a:r>
            <a:endParaRPr lang="en-US" sz="9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Compute AQI change rate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9401" b="8198"/>
          <a:stretch>
            <a:fillRect/>
          </a:stretch>
        </p:blipFill>
        <p:spPr>
          <a:xfrm>
            <a:off x="4219885" y="767311"/>
            <a:ext cx="4619313" cy="38063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6198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Feature Store &amp; Model Training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496119" y="1224781"/>
            <a:ext cx="2631430" cy="1628329"/>
          </a:xfrm>
          <a:prstGeom prst="roundRect">
            <a:avLst>
              <a:gd name="adj" fmla="val 3485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5943" y="1364605"/>
            <a:ext cx="2351782" cy="21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🗄️</a:t>
            </a:r>
            <a:r>
              <a:rPr lang="en-US" sz="13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Feature Store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5943" y="1657722"/>
            <a:ext cx="2351782" cy="1055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 centralized repository where engineered features are stored, versioned, and reused — eliminating redundant work across teams and experiments.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56285" y="1224781"/>
            <a:ext cx="2631430" cy="1628329"/>
          </a:xfrm>
          <a:prstGeom prst="roundRect">
            <a:avLst>
              <a:gd name="adj" fmla="val 3485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96109" y="1364605"/>
            <a:ext cx="2351782" cy="21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🌲</a:t>
            </a:r>
            <a:r>
              <a:rPr lang="en-US" sz="13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Random Forest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96109" y="1657722"/>
            <a:ext cx="2351782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Robust baseline — handles non-linearity and feature interactions well.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16451" y="1224781"/>
            <a:ext cx="2631430" cy="1628329"/>
          </a:xfrm>
          <a:prstGeom prst="roundRect">
            <a:avLst>
              <a:gd name="adj" fmla="val 3485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56275" y="1364605"/>
            <a:ext cx="2351782" cy="21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r>
              <a:rPr lang="en-US" sz="13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XGBoost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56275" y="1657722"/>
            <a:ext cx="2351782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Gradient boosting — often the strongest tabular model in production.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6119" y="2981846"/>
            <a:ext cx="4011513" cy="994990"/>
          </a:xfrm>
          <a:prstGeom prst="roundRect">
            <a:avLst>
              <a:gd name="adj" fmla="val 5704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943" y="3121670"/>
            <a:ext cx="3731865" cy="21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r>
              <a:rPr lang="en-US" sz="13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Linear Regression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943" y="3414787"/>
            <a:ext cx="37318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Simple, interpretable — useful as a performance floor baseline.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36368" y="2981846"/>
            <a:ext cx="4011513" cy="994990"/>
          </a:xfrm>
          <a:prstGeom prst="roundRect">
            <a:avLst>
              <a:gd name="adj" fmla="val 5704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6192" y="3121670"/>
            <a:ext cx="3731865" cy="21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🧠</a:t>
            </a:r>
            <a:r>
              <a:rPr lang="en-US" sz="13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LSTM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76192" y="3414787"/>
            <a:ext cx="373186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Neural network — captures sequential patterns in time-series AQI data.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329"/>
            <a:ext cx="8151763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Model Evaluation &amp; Model Registry</a:t>
            </a:r>
            <a:endParaRPr lang="en-US" sz="1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38454"/>
            <a:ext cx="3970511" cy="28579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82133" y="1282730"/>
            <a:ext cx="3970511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Evaluation Metrics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682133" y="1470253"/>
            <a:ext cx="4032376" cy="410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132080" indent="-132080" algn="l">
              <a:lnSpc>
                <a:spcPct val="107000"/>
              </a:lnSpc>
              <a:buSzPct val="100000"/>
              <a:buChar char="•"/>
            </a:pPr>
            <a:r>
              <a:rPr lang="en-US" sz="9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MAE</a:t>
            </a: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— Average prediction error magnitude</a:t>
            </a:r>
            <a:endParaRPr lang="en-US" sz="900" dirty="0"/>
          </a:p>
          <a:p>
            <a:pPr marL="132080" indent="-132080" algn="l">
              <a:lnSpc>
                <a:spcPct val="107000"/>
              </a:lnSpc>
              <a:buSzPct val="100000"/>
              <a:buChar char="•"/>
            </a:pPr>
            <a:r>
              <a:rPr lang="en-US" sz="9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RMSE</a:t>
            </a: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— Penalizes larger errors more heavily</a:t>
            </a:r>
            <a:endParaRPr lang="en-US" sz="900" dirty="0"/>
          </a:p>
          <a:p>
            <a:pPr marL="132080" indent="-132080" algn="l">
              <a:lnSpc>
                <a:spcPct val="107000"/>
              </a:lnSpc>
              <a:buSzPct val="100000"/>
              <a:buChar char="•"/>
            </a:pPr>
            <a:r>
              <a:rPr lang="en-US" sz="9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R²</a:t>
            </a: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— Proportion of variance explained by the model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682133" y="2100967"/>
            <a:ext cx="3970511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Model Registry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682133" y="2288490"/>
            <a:ext cx="4136285" cy="496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Track every model version with metadata, metrics, and artifacts. Enables rollback, comparison, and audit trails.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96119" y="3926910"/>
            <a:ext cx="172715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6119" y="4064204"/>
            <a:ext cx="2682180" cy="9525"/>
          </a:xfrm>
          <a:prstGeom prst="rect">
            <a:avLst/>
          </a:prstGeom>
          <a:solidFill>
            <a:srgbClr val="224435"/>
          </a:solidFill>
          <a:ln/>
        </p:spPr>
      </p:sp>
      <p:sp>
        <p:nvSpPr>
          <p:cNvPr id="10" name="Text 7"/>
          <p:cNvSpPr/>
          <p:nvPr/>
        </p:nvSpPr>
        <p:spPr>
          <a:xfrm>
            <a:off x="496119" y="4126415"/>
            <a:ext cx="2682180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Version 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96119" y="4292879"/>
            <a:ext cx="2682180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Initial baseline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230910" y="3926910"/>
            <a:ext cx="172715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30910" y="4064204"/>
            <a:ext cx="2682180" cy="9525"/>
          </a:xfrm>
          <a:prstGeom prst="rect">
            <a:avLst/>
          </a:prstGeom>
          <a:solidFill>
            <a:srgbClr val="224435"/>
          </a:solidFill>
          <a:ln/>
        </p:spPr>
      </p:sp>
      <p:sp>
        <p:nvSpPr>
          <p:cNvPr id="14" name="Text 11"/>
          <p:cNvSpPr/>
          <p:nvPr/>
        </p:nvSpPr>
        <p:spPr>
          <a:xfrm>
            <a:off x="3230910" y="4126415"/>
            <a:ext cx="2682180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Version 2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230910" y="4292879"/>
            <a:ext cx="2682180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Improved features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65701" y="3926910"/>
            <a:ext cx="172715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65701" y="4064204"/>
            <a:ext cx="2682180" cy="9525"/>
          </a:xfrm>
          <a:prstGeom prst="rect">
            <a:avLst/>
          </a:prstGeom>
          <a:solidFill>
            <a:srgbClr val="224435"/>
          </a:solidFill>
          <a:ln/>
        </p:spPr>
      </p:sp>
      <p:sp>
        <p:nvSpPr>
          <p:cNvPr id="18" name="Text 15"/>
          <p:cNvSpPr/>
          <p:nvPr/>
        </p:nvSpPr>
        <p:spPr>
          <a:xfrm>
            <a:off x="5965701" y="4126415"/>
            <a:ext cx="2682180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Version 3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965701" y="4292879"/>
            <a:ext cx="2682180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Production-ready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Deployment — Where Models Create Value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 model only creates value when users can access its predictions.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807021"/>
            <a:ext cx="8084567" cy="34862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3714" y="3632126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Real-time Result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2825122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Model Prediction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202626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API Processing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3714" y="1219264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User Request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333056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The prediction flows from the user's request through the API and model, then back as a real-time result.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496119" y="4457923"/>
            <a:ext cx="8151763" cy="368201"/>
          </a:xfrm>
          <a:prstGeom prst="roundRect">
            <a:avLst>
              <a:gd name="adj" fmla="val 8086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0881" y="4462686"/>
            <a:ext cx="2714030" cy="358676"/>
          </a:xfrm>
          <a:custGeom>
            <a:avLst/>
            <a:gdLst/>
            <a:ahLst/>
            <a:cxnLst/>
            <a:rect l="l" t="t" r="r" b="b"/>
            <a:pathLst>
              <a:path w="2714030" h="358676">
                <a:moveTo>
                  <a:pt x="24809" y="0"/>
                </a:moveTo>
                <a:lnTo>
                  <a:pt x="2714030" y="0"/>
                </a:lnTo>
                <a:lnTo>
                  <a:pt x="2714030" y="358676"/>
                </a:lnTo>
                <a:lnTo>
                  <a:pt x="24809" y="358676"/>
                </a:lnTo>
                <a:arcTo wR="24809" hR="24809" stAng="5400000" swAng="5400000"/>
                <a:lnTo>
                  <a:pt x="0" y="24809"/>
                </a:lnTo>
                <a:arcTo wR="24809" hR="24809" stAng="10800000" swAng="5400000"/>
                <a:close/>
              </a:path>
            </a:pathLst>
          </a:custGeom>
          <a:solidFill>
            <a:srgbClr val="DDEEE6"/>
          </a:solidFill>
          <a:ln/>
        </p:spPr>
      </p:sp>
      <p:sp>
        <p:nvSpPr>
          <p:cNvPr id="12" name="Text 9"/>
          <p:cNvSpPr/>
          <p:nvPr/>
        </p:nvSpPr>
        <p:spPr>
          <a:xfrm>
            <a:off x="571723" y="4533528"/>
            <a:ext cx="257234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Streamlit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571723" y="4665464"/>
            <a:ext cx="257234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Rapid dashboard prototyping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3214911" y="4462686"/>
            <a:ext cx="2714104" cy="358676"/>
          </a:xfrm>
          <a:prstGeom prst="rect">
            <a:avLst/>
          </a:prstGeom>
          <a:solidFill>
            <a:srgbClr val="DDEEE6"/>
          </a:solidFill>
          <a:ln/>
        </p:spPr>
      </p:sp>
      <p:sp>
        <p:nvSpPr>
          <p:cNvPr id="15" name="Shape 12"/>
          <p:cNvSpPr/>
          <p:nvPr/>
        </p:nvSpPr>
        <p:spPr>
          <a:xfrm>
            <a:off x="3214911" y="4462686"/>
            <a:ext cx="9525" cy="358676"/>
          </a:xfrm>
          <a:prstGeom prst="roundRect">
            <a:avLst>
              <a:gd name="adj" fmla="val 50000"/>
            </a:avLst>
          </a:prstGeom>
          <a:solidFill>
            <a:srgbClr val="C3D4CC"/>
          </a:solidFill>
          <a:ln/>
        </p:spPr>
      </p:sp>
      <p:sp>
        <p:nvSpPr>
          <p:cNvPr id="16" name="Text 13"/>
          <p:cNvSpPr/>
          <p:nvPr/>
        </p:nvSpPr>
        <p:spPr>
          <a:xfrm>
            <a:off x="3285753" y="4533528"/>
            <a:ext cx="257242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FastAPI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3285753" y="4665464"/>
            <a:ext cx="257242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Lightweight, async REST API</a:t>
            </a:r>
            <a:endParaRPr lang="en-US" sz="550" dirty="0"/>
          </a:p>
        </p:txBody>
      </p:sp>
      <p:sp>
        <p:nvSpPr>
          <p:cNvPr id="18" name="Shape 15"/>
          <p:cNvSpPr/>
          <p:nvPr/>
        </p:nvSpPr>
        <p:spPr>
          <a:xfrm>
            <a:off x="5929015" y="4462686"/>
            <a:ext cx="2714104" cy="358676"/>
          </a:xfrm>
          <a:custGeom>
            <a:avLst/>
            <a:gdLst/>
            <a:ahLst/>
            <a:cxnLst/>
            <a:rect l="l" t="t" r="r" b="b"/>
            <a:pathLst>
              <a:path w="2714104" h="358676">
                <a:moveTo>
                  <a:pt x="0" y="0"/>
                </a:moveTo>
                <a:lnTo>
                  <a:pt x="2689295" y="0"/>
                </a:lnTo>
                <a:arcTo wR="24809" hR="24809" stAng="16200000" swAng="5400000"/>
                <a:lnTo>
                  <a:pt x="2714104" y="333866"/>
                </a:lnTo>
                <a:arcTo wR="24809" hR="24809" stAng="0" swAng="5400000"/>
                <a:lnTo>
                  <a:pt x="0" y="358676"/>
                </a:lnTo>
                <a:lnTo>
                  <a:pt x="0" y="0"/>
                </a:lnTo>
                <a:close/>
              </a:path>
            </a:pathLst>
          </a:custGeom>
          <a:solidFill>
            <a:srgbClr val="DDEEE6"/>
          </a:solidFill>
          <a:ln/>
        </p:spPr>
      </p:sp>
      <p:sp>
        <p:nvSpPr>
          <p:cNvPr id="19" name="Shape 16"/>
          <p:cNvSpPr/>
          <p:nvPr/>
        </p:nvSpPr>
        <p:spPr>
          <a:xfrm>
            <a:off x="5929015" y="4462686"/>
            <a:ext cx="9525" cy="358676"/>
          </a:xfrm>
          <a:prstGeom prst="roundRect">
            <a:avLst>
              <a:gd name="adj" fmla="val 50000"/>
            </a:avLst>
          </a:prstGeom>
          <a:solidFill>
            <a:srgbClr val="C3D4CC"/>
          </a:solidFill>
          <a:ln/>
        </p:spPr>
      </p:sp>
      <p:sp>
        <p:nvSpPr>
          <p:cNvPr id="20" name="Text 17"/>
          <p:cNvSpPr/>
          <p:nvPr/>
        </p:nvSpPr>
        <p:spPr>
          <a:xfrm>
            <a:off x="5999857" y="4533528"/>
            <a:ext cx="257242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Flask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5999857" y="4665464"/>
            <a:ext cx="257242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Simple, flexible web framework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1481"/>
            <a:ext cx="4722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Automation &amp; Monitoring</a:t>
            </a:r>
            <a:endParaRPr lang="en-US" sz="1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815132"/>
            <a:ext cx="238125" cy="2381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1133252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Auto Data Collection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96119" y="1320478"/>
            <a:ext cx="47227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Scheduled API calls keep data fresh without manual intervention.</a:t>
            </a:r>
            <a:endParaRPr lang="en-US" sz="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575867"/>
            <a:ext cx="238125" cy="2381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6119" y="1893987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Auto Feature Generation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96119" y="2081213"/>
            <a:ext cx="47227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Pipeline transforms raw data into features on every run.</a:t>
            </a:r>
            <a:endParaRPr lang="en-US" sz="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336602"/>
            <a:ext cx="238125" cy="2381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6119" y="2654722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Auto Retraining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496119" y="2841947"/>
            <a:ext cx="47227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Models retrain on schedule or when performance degrades.</a:t>
            </a:r>
            <a:endParaRPr lang="en-US" sz="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097337"/>
            <a:ext cx="238125" cy="23812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6119" y="3415457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Drift Monitoring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496119" y="3602682"/>
            <a:ext cx="47227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Alerts trigger when data drift or performance drops below threshold.</a:t>
            </a:r>
            <a:endParaRPr lang="en-US" sz="750" dirty="0"/>
          </a:p>
        </p:txBody>
      </p:sp>
      <p:sp>
        <p:nvSpPr>
          <p:cNvPr id="16" name="Shape 9"/>
          <p:cNvSpPr/>
          <p:nvPr/>
        </p:nvSpPr>
        <p:spPr>
          <a:xfrm>
            <a:off x="496119" y="3802038"/>
            <a:ext cx="4722763" cy="296614"/>
          </a:xfrm>
          <a:prstGeom prst="roundRect">
            <a:avLst>
              <a:gd name="adj" fmla="val 13487"/>
            </a:avLst>
          </a:prstGeom>
          <a:solidFill>
            <a:srgbClr val="DDEEE6"/>
          </a:solidFill>
          <a:ln/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369" y="3923481"/>
            <a:ext cx="119062" cy="952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05681" y="3889846"/>
            <a:ext cx="4775150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Tools:</a:t>
            </a:r>
            <a:r>
              <a:rPr lang="en-US" sz="750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GitHub Actions, Apache Airflow, Evidently AI for drift detection</a:t>
            </a:r>
            <a:endParaRPr lang="en-US" sz="750" dirty="0"/>
          </a:p>
        </p:txBody>
      </p:sp>
      <p:sp>
        <p:nvSpPr>
          <p:cNvPr id="21" name="Text 12"/>
          <p:cNvSpPr/>
          <p:nvPr/>
        </p:nvSpPr>
        <p:spPr>
          <a:xfrm>
            <a:off x="805681" y="4258419"/>
            <a:ext cx="431795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0645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Your 7-Week Internship Journey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034951"/>
            <a:ext cx="86089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Each week maps directly onto a stage of the ML pipeline.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2342183"/>
            <a:ext cx="8151763" cy="14288"/>
          </a:xfrm>
          <a:prstGeom prst="roundRect">
            <a:avLst>
              <a:gd name="adj" fmla="val 49998"/>
            </a:avLst>
          </a:prstGeom>
          <a:solidFill>
            <a:srgbClr val="C3D4CC"/>
          </a:solidFill>
          <a:ln/>
        </p:spPr>
      </p:sp>
      <p:sp>
        <p:nvSpPr>
          <p:cNvPr id="5" name="Shape 3"/>
          <p:cNvSpPr/>
          <p:nvPr/>
        </p:nvSpPr>
        <p:spPr>
          <a:xfrm>
            <a:off x="1453381" y="1956792"/>
            <a:ext cx="14288" cy="385390"/>
          </a:xfrm>
          <a:prstGeom prst="roundRect">
            <a:avLst>
              <a:gd name="adj" fmla="val 49998"/>
            </a:avLst>
          </a:prstGeom>
          <a:solidFill>
            <a:srgbClr val="C3D4CC"/>
          </a:solidFill>
          <a:ln/>
        </p:spPr>
      </p:sp>
      <p:sp>
        <p:nvSpPr>
          <p:cNvPr id="6" name="Shape 4"/>
          <p:cNvSpPr/>
          <p:nvPr/>
        </p:nvSpPr>
        <p:spPr>
          <a:xfrm>
            <a:off x="1316013" y="2197671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64196" y="2221743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4557" y="1361852"/>
            <a:ext cx="167193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Week 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4557" y="1632347"/>
            <a:ext cx="167193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Data Collection &amp; APIs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0490" y="2342183"/>
            <a:ext cx="14288" cy="385390"/>
          </a:xfrm>
          <a:prstGeom prst="roundRect">
            <a:avLst>
              <a:gd name="adj" fmla="val 49998"/>
            </a:avLst>
          </a:prstGeom>
          <a:solidFill>
            <a:srgbClr val="C3D4CC"/>
          </a:solidFill>
          <a:ln/>
        </p:spPr>
      </p:sp>
      <p:sp>
        <p:nvSpPr>
          <p:cNvPr id="11" name="Shape 9"/>
          <p:cNvSpPr/>
          <p:nvPr/>
        </p:nvSpPr>
        <p:spPr>
          <a:xfrm>
            <a:off x="2353121" y="2197671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1305" y="2221743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61666" y="2856086"/>
            <a:ext cx="167193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Week 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661666" y="3126581"/>
            <a:ext cx="167193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EDA &amp; Feature Engineering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27673" y="1956792"/>
            <a:ext cx="14288" cy="385390"/>
          </a:xfrm>
          <a:prstGeom prst="roundRect">
            <a:avLst>
              <a:gd name="adj" fmla="val 49998"/>
            </a:avLst>
          </a:prstGeom>
          <a:solidFill>
            <a:srgbClr val="C3D4CC"/>
          </a:solidFill>
          <a:ln/>
        </p:spPr>
      </p:sp>
      <p:sp>
        <p:nvSpPr>
          <p:cNvPr id="16" name="Shape 14"/>
          <p:cNvSpPr/>
          <p:nvPr/>
        </p:nvSpPr>
        <p:spPr>
          <a:xfrm>
            <a:off x="3390305" y="2197671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38488" y="2221743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98849" y="1361852"/>
            <a:ext cx="167193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Week 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698849" y="1632347"/>
            <a:ext cx="167193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Feature Store Setup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64782" y="2342183"/>
            <a:ext cx="14288" cy="385390"/>
          </a:xfrm>
          <a:prstGeom prst="roundRect">
            <a:avLst>
              <a:gd name="adj" fmla="val 49998"/>
            </a:avLst>
          </a:prstGeom>
          <a:solidFill>
            <a:srgbClr val="C3D4CC"/>
          </a:solidFill>
          <a:ln/>
        </p:spPr>
      </p:sp>
      <p:sp>
        <p:nvSpPr>
          <p:cNvPr id="21" name="Shape 19"/>
          <p:cNvSpPr/>
          <p:nvPr/>
        </p:nvSpPr>
        <p:spPr>
          <a:xfrm>
            <a:off x="4427413" y="2197671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75597" y="2221743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35958" y="2856086"/>
            <a:ext cx="167201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Week 4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735958" y="3126581"/>
            <a:ext cx="167201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Model Training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01965" y="1956792"/>
            <a:ext cx="14288" cy="385390"/>
          </a:xfrm>
          <a:prstGeom prst="roundRect">
            <a:avLst>
              <a:gd name="adj" fmla="val 49998"/>
            </a:avLst>
          </a:prstGeom>
          <a:solidFill>
            <a:srgbClr val="C3D4CC"/>
          </a:solidFill>
          <a:ln/>
        </p:spPr>
      </p:sp>
      <p:sp>
        <p:nvSpPr>
          <p:cNvPr id="26" name="Shape 24"/>
          <p:cNvSpPr/>
          <p:nvPr/>
        </p:nvSpPr>
        <p:spPr>
          <a:xfrm>
            <a:off x="5464597" y="2197671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12780" y="2221743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73141" y="1361852"/>
            <a:ext cx="167193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Week 5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773141" y="1632347"/>
            <a:ext cx="167193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Evaluation &amp; Registry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39148" y="2342183"/>
            <a:ext cx="14288" cy="385390"/>
          </a:xfrm>
          <a:prstGeom prst="roundRect">
            <a:avLst>
              <a:gd name="adj" fmla="val 49998"/>
            </a:avLst>
          </a:prstGeom>
          <a:solidFill>
            <a:srgbClr val="C3D4CC"/>
          </a:solidFill>
          <a:ln/>
        </p:spPr>
      </p:sp>
      <p:sp>
        <p:nvSpPr>
          <p:cNvPr id="31" name="Shape 29"/>
          <p:cNvSpPr/>
          <p:nvPr/>
        </p:nvSpPr>
        <p:spPr>
          <a:xfrm>
            <a:off x="6501780" y="2197671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49963" y="2221743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810324" y="2856086"/>
            <a:ext cx="167193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Week 6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810324" y="3126581"/>
            <a:ext cx="167193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676257" y="1956792"/>
            <a:ext cx="14288" cy="385390"/>
          </a:xfrm>
          <a:prstGeom prst="roundRect">
            <a:avLst>
              <a:gd name="adj" fmla="val 49998"/>
            </a:avLst>
          </a:prstGeom>
          <a:solidFill>
            <a:srgbClr val="C3D4CC"/>
          </a:solidFill>
          <a:ln/>
        </p:spPr>
      </p:sp>
      <p:sp>
        <p:nvSpPr>
          <p:cNvPr id="36" name="Shape 34"/>
          <p:cNvSpPr/>
          <p:nvPr/>
        </p:nvSpPr>
        <p:spPr>
          <a:xfrm>
            <a:off x="7538889" y="2197671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7072" y="2221743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847433" y="1361852"/>
            <a:ext cx="167201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Week 7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847433" y="1632347"/>
            <a:ext cx="167201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Automation &amp; Monitoring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6119" y="3453482"/>
            <a:ext cx="8151763" cy="481236"/>
          </a:xfrm>
          <a:prstGeom prst="roundRect">
            <a:avLst>
              <a:gd name="adj" fmla="val 11213"/>
            </a:avLst>
          </a:prstGeom>
          <a:solidFill>
            <a:srgbClr val="DDEEE6"/>
          </a:solidFill>
          <a:ln/>
        </p:spPr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57" y="3634904"/>
            <a:ext cx="160586" cy="128439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913581" y="3601938"/>
            <a:ext cx="806306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By the end, you'll have a </a:t>
            </a:r>
            <a:r>
              <a:rPr lang="en-US" sz="1000" b="1" dirty="0">
                <a:solidFill>
                  <a:srgbClr val="000000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fully automated, deployed ML system</a:t>
            </a:r>
            <a:r>
              <a:rPr lang="en-US" sz="1000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— not just a Jupyter notebook.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913581" y="4214143"/>
            <a:ext cx="760586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77515"/>
            <a:ext cx="4722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Takeaways</a:t>
            </a:r>
            <a:endParaRPr lang="en-US" sz="2050" dirty="0"/>
          </a:p>
        </p:txBody>
      </p:sp>
      <p:sp>
        <p:nvSpPr>
          <p:cNvPr id="4" name="Shape 1"/>
          <p:cNvSpPr/>
          <p:nvPr/>
        </p:nvSpPr>
        <p:spPr>
          <a:xfrm>
            <a:off x="496119" y="929357"/>
            <a:ext cx="4722763" cy="584746"/>
          </a:xfrm>
          <a:prstGeom prst="roundRect">
            <a:avLst>
              <a:gd name="adj" fmla="val 7637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7144" y="1040383"/>
            <a:ext cx="450071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r>
              <a:rPr lang="en-US" sz="1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Problem First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7144" y="1254249"/>
            <a:ext cx="450071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Always start with the business question — not the algorithm.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96119" y="1593800"/>
            <a:ext cx="4722763" cy="584746"/>
          </a:xfrm>
          <a:prstGeom prst="roundRect">
            <a:avLst>
              <a:gd name="adj" fmla="val 7637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7144" y="1704826"/>
            <a:ext cx="450071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r>
              <a:rPr lang="en-US" sz="1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Features Matter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7144" y="1918692"/>
            <a:ext cx="450071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Quality features often beat complex models.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96119" y="2258244"/>
            <a:ext cx="4722763" cy="584746"/>
          </a:xfrm>
          <a:prstGeom prst="roundRect">
            <a:avLst>
              <a:gd name="adj" fmla="val 7637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7144" y="2369269"/>
            <a:ext cx="450071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r>
              <a:rPr lang="en-US" sz="1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Deploy to Deliver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7144" y="2583135"/>
            <a:ext cx="450071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 model creates value only when users can access it.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96119" y="2922687"/>
            <a:ext cx="4722763" cy="584746"/>
          </a:xfrm>
          <a:prstGeom prst="roundRect">
            <a:avLst>
              <a:gd name="adj" fmla="val 7637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7144" y="3033713"/>
            <a:ext cx="450071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r>
              <a:rPr lang="en-US" sz="1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Automate Everything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7144" y="3247579"/>
            <a:ext cx="450071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Automation and monitoring make ML systems production-ready.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55588" y="3686770"/>
            <a:ext cx="502049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i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"Machine learning is not a one-time event — it's a continuous system that evolves with your data."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96119" y="3597101"/>
            <a:ext cx="14288" cy="328166"/>
          </a:xfrm>
          <a:prstGeom prst="roundRect">
            <a:avLst>
              <a:gd name="adj" fmla="val 49998"/>
            </a:avLst>
          </a:prstGeom>
          <a:solidFill>
            <a:srgbClr val="22443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613</Words>
  <Application>Microsoft Office PowerPoint</Application>
  <PresentationFormat>On-screen Show (16:9)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Syne</vt:lpstr>
      <vt:lpstr>Overpass Bold</vt:lpstr>
      <vt:lpstr>Twemoji Mozilla</vt:lpstr>
      <vt:lpstr>Arial</vt:lpstr>
      <vt:lpstr>Syne Bold</vt:lpstr>
      <vt:lpstr>Overpass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Umema Ashar</cp:lastModifiedBy>
  <cp:revision>3</cp:revision>
  <dcterms:created xsi:type="dcterms:W3CDTF">2026-08-07T08:34:29Z</dcterms:created>
  <dcterms:modified xsi:type="dcterms:W3CDTF">2026-08-07T11:18:57Z</dcterms:modified>
</cp:coreProperties>
</file>